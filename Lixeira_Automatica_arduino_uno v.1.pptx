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7KMZC9rg2kpgK+CwnaaRlOii0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Bom dia. Vou apresentar a lixeira automatica que fiz para a disciplina de Robotica.</a:t>
            </a:r>
            <a:br>
              <a:rPr lang="en-US"/>
            </a:br>
            <a:br>
              <a:rPr lang="en-US"/>
            </a:br>
            <a:r>
              <a:rPr lang="en-US"/>
              <a:t>Um aviso de enquadramento: eu construi esse projeto DUAS VEZES, em duas plataformas diferentes. Nao foi planejado assim, foi consequencia de um problema pratico que apareceu no meio do caminho.</a:t>
            </a:r>
            <a:br>
              <a:rPr lang="en-US"/>
            </a:br>
            <a:br>
              <a:rPr lang="en-US"/>
            </a:br>
            <a:r>
              <a:rPr lang="en-US"/>
              <a:t>E justamente essa comparacao que virou a parte mais interessante do trabalho.</a:t>
            </a:r>
            <a:br>
              <a:rPr lang="en-US"/>
            </a:br>
            <a:br>
              <a:rPr lang="en-US"/>
            </a:br>
            <a:r>
              <a:rPr lang="en-US"/>
              <a:t>Sao tres slides de conteudo, uns 10 minutos.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Comecei pela pesquisa de campo: fui olhar lixeiras automaticas de verdade, produtos que ja estao no mercado. Ver funcionando ensinou mais do que ler ficha tecnica.</a:t>
            </a:r>
            <a:br>
              <a:rPr lang="en-US"/>
            </a:br>
            <a:br>
              <a:rPr lang="en-US"/>
            </a:br>
            <a:r>
              <a:rPr lang="en-US"/>
              <a:t>Reparei em tres coisas.</a:t>
            </a:r>
            <a:br>
              <a:rPr lang="en-US"/>
            </a:br>
            <a:br>
              <a:rPr lang="en-US"/>
            </a:br>
            <a:r>
              <a:rPr lang="en-US"/>
              <a:t>A PRIMEIRA, funcionava com bateria. Eu mudei: o meu projeto e um teste academico, nao vai morar numa cozinha, entao nao preciso que ele ande. Alem disso, pilha precisaria de reposicao, o que quebrava um criterio que eu tinha colocado no comeco.</a:t>
            </a:r>
            <a:br>
              <a:rPr lang="en-US"/>
            </a:br>
            <a:br>
              <a:rPr lang="en-US"/>
            </a:br>
            <a:r>
              <a:rPr lang="en-US"/>
              <a:t>A SEGUNDA, o sensor ficava la em cima. Eu mudei: se ele subisse junto com a tampa, com ela aberta ficaria apontado pra cima e nao veria mais a pessoa. Alem disso o fio quebraria de tanto dobrar na dobradica, e o peso extra exigiria mais forca do atuador.</a:t>
            </a:r>
            <a:br>
              <a:rPr lang="en-US"/>
            </a:br>
            <a:br>
              <a:rPr lang="en-US"/>
            </a:br>
            <a:r>
              <a:rPr lang="en-US"/>
              <a:t>Descobri depois que as lixeiras de loja poem o sensor la em cima mesmo, mas num anel que NAO se mexe. So a abinha gira por baixo dele. Eu tinha visto a posicao, nao essa diferenca.</a:t>
            </a:r>
            <a:br>
              <a:rPr lang="en-US"/>
            </a:br>
            <a:br>
              <a:rPr lang="en-US"/>
            </a:br>
            <a:r>
              <a:rPr lang="en-US"/>
              <a:t>A TERCEIRA eu copiei inteira, e ela virou o coracao do projeto: a tampa fica aberta enquanto a pessoa esta la.</a:t>
            </a:r>
            <a:br>
              <a:rPr lang="en-US"/>
            </a:br>
            <a:br>
              <a:rPr lang="en-US"/>
            </a:br>
            <a:r>
              <a:rPr lang="en-US"/>
              <a:t>O cartao da direita explica por que isso e o interessante. Se fosse so detectou-abriu, seria trivial. O dificil e a espera. Se a contagem comecasse na abertura, a tampa fecharia na mao de quem ainda esta descartando, a pessoa recuaria, o sensor dispararia de novo, e viraria gangorra.</a:t>
            </a:r>
            <a:br>
              <a:rPr lang="en-US"/>
            </a:br>
            <a:br>
              <a:rPr lang="en-US"/>
            </a:br>
            <a:r>
              <a:rPr lang="en-US"/>
              <a:t>O cartao da esquerda mostra que o objeto reune os tres subsistemas de qualquer robo: percepcao, decisao e acao. Tudo isso em cima de uma mesa.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foi a primeira versao, e a escolha da placa partiu da LINGUAGEM.</a:t>
            </a:r>
            <a:br>
              <a:rPr lang="en-US"/>
            </a:br>
            <a:br>
              <a:rPr lang="en-US"/>
            </a:br>
            <a:r>
              <a:rPr lang="en-US"/>
              <a:t>Python era requisito meu desde o inicio do projeto. Isso eliminou o Arduino classico logo de cara, porque o chip dele tem 2 KB de memoria e o MicroPython precisa de uns 16 KB so pra existir. E limite de hardware, nao e escolha.</a:t>
            </a:r>
            <a:br>
              <a:rPr lang="en-US"/>
            </a:br>
            <a:br>
              <a:rPr lang="en-US"/>
            </a:br>
            <a:r>
              <a:rPr lang="en-US"/>
              <a:t>O ESP32-C3 roda MicroPython oficialmente, e roda NA PROPRIA PLACA, sem depender de computador ligado por cabo. Isso atendia o requisito de funcionar sozinha.</a:t>
            </a:r>
            <a:br>
              <a:rPr lang="en-US"/>
            </a:br>
            <a:br>
              <a:rPr lang="en-US"/>
            </a:br>
            <a:r>
              <a:rPr lang="en-US"/>
              <a:t>O segundo ponto a favor foi o conector. Meu notebook so tem entrada USB-C, e essa placa tem USB-C direto nela. Usei o mesmo cabo do carregador, sem adaptador nenhum.</a:t>
            </a:r>
            <a:br>
              <a:rPr lang="en-US"/>
            </a:br>
            <a:br>
              <a:rPr lang="en-US"/>
            </a:br>
            <a:r>
              <a:rPr lang="en-US"/>
              <a:t>E o terceiro: ela foi reconhecida sem instalar driver. O chip dela fala USB diretamente, sem circuito conversor no meio. Plugei e o Mac achou na hora.</a:t>
            </a:r>
            <a:br>
              <a:rPr lang="en-US"/>
            </a:br>
            <a:br>
              <a:rPr lang="en-US"/>
            </a:br>
            <a:r>
              <a:rPr lang="en-US"/>
              <a:t>AGORA O QUE COMPLICOU.</a:t>
            </a:r>
            <a:br>
              <a:rPr lang="en-US"/>
            </a:br>
            <a:br>
              <a:rPr lang="en-US"/>
            </a:br>
            <a:r>
              <a:rPr lang="en-US"/>
              <a:t>A placa vem com os pinos separados, numa barrinha a parte. Soldar nao era opcional: sem os pinos, ela nao conecta em nada.</a:t>
            </a:r>
            <a:br>
              <a:rPr lang="en-US"/>
            </a:br>
            <a:br>
              <a:rPr lang="en-US"/>
            </a:br>
            <a:r>
              <a:rPr lang="en-US"/>
              <a:t>Eu nao tenho essa habilidade manual, entao precisei recorrer a terceiros. E a solda acabou soltando: o circuito passou a funcionar de forma intermitente, o que e o pior tipo de defeito, porque voce nunca sabe se o problema e o codigo ou o contato.</a:t>
            </a:r>
            <a:br>
              <a:rPr lang="en-US"/>
            </a:br>
            <a:br>
              <a:rPr lang="en-US"/>
            </a:br>
            <a:r>
              <a:rPr lang="en-US"/>
              <a:t>Vale registrar que a plataforma nao falhou. O MicroPython rodou, o LED acendeu por comando, e o sensor entregou distancias corretas conferidas com regua. O que travou foi a execucao fisica.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e a evidencia de que a primeira versao funcionou. Nao e uma promessa, e um registro.</a:t>
            </a:r>
            <a:br>
              <a:rPr lang="en-US"/>
            </a:br>
            <a:br>
              <a:rPr lang="en-US"/>
            </a:br>
            <a:r>
              <a:rPr lang="en-US"/>
              <a:t>A ESQUERDA esta a saida real do monitor, com o sensor ligado. Os numeros mudam conforme eu aproximo a mao: 20 cm, 29, 32, 44. Conferi com regua e batia.</a:t>
            </a:r>
            <a:br>
              <a:rPr lang="en-US"/>
            </a:br>
            <a:br>
              <a:rPr lang="en-US"/>
            </a:br>
            <a:r>
              <a:rPr lang="en-US"/>
              <a:t>Repare nos zeros intercalados. Aquilo e o sensor devolvendo um valor absurdo do nada, que acontece de vez em quando com sensor de baixo custo. Esse codigo de teste era cru, sem filtro, entao os erros aparecem.</a:t>
            </a:r>
            <a:br>
              <a:rPr lang="en-US"/>
            </a:br>
            <a:br>
              <a:rPr lang="en-US"/>
            </a:br>
            <a:r>
              <a:rPr lang="en-US"/>
              <a:t>No programa final eu faco tres medicoes e uso a do meio. Se fosse media, o valor errado bagunçaria o resultado. Usando a mediana, ele e simplesmente descartado. Ou seja, esse print e a justificativa daquela decisao acontecendo na pratica.</a:t>
            </a:r>
            <a:br>
              <a:rPr lang="en-US"/>
            </a:br>
            <a:br>
              <a:rPr lang="en-US"/>
            </a:br>
            <a:r>
              <a:rPr lang="en-US"/>
              <a:t>A DIREITA esta o nucleo da logica. Sao onze linhas, e elas resolvem o problema central do projeto.</a:t>
            </a:r>
            <a:br>
              <a:rPr lang="en-US"/>
            </a:br>
            <a:br>
              <a:rPr lang="en-US"/>
            </a:br>
            <a:r>
              <a:rPr lang="en-US"/>
              <a:t>Quando ha presenca, eu anoto o instante e abro se ainda estiver fechada. Quando nao ha, eu comparo quanto tempo passou desde a ultima presenca.</a:t>
            </a:r>
            <a:br>
              <a:rPr lang="en-US"/>
            </a:br>
            <a:br>
              <a:rPr lang="en-US"/>
            </a:br>
            <a:r>
              <a:rPr lang="en-US"/>
              <a:t>A chave esta na primeira linha do bloco: o carimbo de tempo e RENOVADO a cada deteccao. Enquanto a pessoa estiver la, o intervalo nunca completa e a tampa nao fecha.</a:t>
            </a:r>
            <a:br>
              <a:rPr lang="en-US"/>
            </a:br>
            <a:br>
              <a:rPr lang="en-US"/>
            </a:br>
            <a:r>
              <a:rPr lang="en-US"/>
              <a:t>Se eu tivesse usado uma pausa fixa depois de abrir, o programa pararia de ler o sensor durante a espera, e a tampa fecharia na mao de quem ainda esta descartando.</a:t>
            </a:r>
            <a:br>
              <a:rPr lang="en-US"/>
            </a:br>
            <a:br>
              <a:rPr lang="en-US"/>
            </a:br>
            <a:r>
              <a:rPr lang="en-US"/>
              <a:t>Essa mesma logica foi transposta para C++ na segunda versao, sem mudar o comportamento. Muda a sintaxe, nao a decisao de projeto.</a:t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segunda versao nasceu do problema da solda, nao de uma insatisfacao com o ESP32.</a:t>
            </a:r>
            <a:br>
              <a:rPr lang="en-US"/>
            </a:br>
            <a:br>
              <a:rPr lang="en-US"/>
            </a:br>
            <a:r>
              <a:rPr lang="en-US"/>
              <a:t>O Arduino Uno vem com as barras de conectores soldadas de fabrica. O fio espeta direto na placa, sem protoboard e sem solda. Isso resolveu o problema que tinha me travado.</a:t>
            </a:r>
            <a:br>
              <a:rPr lang="en-US"/>
            </a:br>
            <a:br>
              <a:rPr lang="en-US"/>
            </a:br>
            <a:r>
              <a:rPr lang="en-US"/>
              <a:t>E funcionou: circuito montado, sensor lendo, tampa abrindo.</a:t>
            </a:r>
            <a:br>
              <a:rPr lang="en-US"/>
            </a:br>
            <a:br>
              <a:rPr lang="en-US"/>
            </a:br>
            <a:r>
              <a:rPr lang="en-US"/>
              <a:t>MAS A TROCA TEVE UM PRECO, e eu quero declarar ele.</a:t>
            </a:r>
            <a:br>
              <a:rPr lang="en-US"/>
            </a:br>
            <a:br>
              <a:rPr lang="en-US"/>
            </a:br>
            <a:r>
              <a:rPr lang="en-US"/>
              <a:t>Primeiro, perdi o Python. O Arduino Uno nao roda MicroPython, entao reescrevi o programa inteiro em C++. A logica e identica: mesma maquina de estados, mesma mediana de tres medicoes, mesma temporizacao nao bloqueante. So a linguagem mudou.</a:t>
            </a:r>
            <a:br>
              <a:rPr lang="en-US"/>
            </a:br>
            <a:br>
              <a:rPr lang="en-US"/>
            </a:br>
            <a:r>
              <a:rPr lang="en-US"/>
              <a:t>Uma coisa ficou ate mais facil: a biblioteca de servo do Arduino trabalha em GRAUS, de 0 a 180, enquanto no MicroPython eu tinha que calcular largura de pulso. A calibracao ficou mais direta.</a:t>
            </a:r>
            <a:br>
              <a:rPr lang="en-US"/>
            </a:br>
            <a:br>
              <a:rPr lang="en-US"/>
            </a:br>
            <a:r>
              <a:rPr lang="en-US"/>
              <a:t>Segundo, o conector. O Uno usa cabo USB-B, aquele quadradao de impressora, e do outro lado USB-A. Meu notebook so tem USB-C, entao nao encaixa.</a:t>
            </a:r>
            <a:br>
              <a:rPr lang="en-US"/>
            </a:br>
            <a:br>
              <a:rPr lang="en-US"/>
            </a:br>
            <a:r>
              <a:rPr lang="en-US"/>
              <a:t>Como eu nao tinha adaptador nem o cabo necessario, precisei montar tudo num computador com Windows emprestado. Ou seja, a escolha da placa determinou ate qual equipamento eu podia usar.</a:t>
            </a:r>
            <a:br>
              <a:rPr lang="en-US"/>
            </a:br>
            <a:br>
              <a:rPr lang="en-US"/>
            </a:br>
            <a:r>
              <a:rPr lang="en-US"/>
              <a:t>Esse e um custo que nao aparece em ficha tecnica nenhuma, e foi real.</a:t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 fechar.</a:t>
            </a:r>
            <a:br>
              <a:rPr lang="en-US"/>
            </a:br>
            <a:br>
              <a:rPr lang="en-US"/>
            </a:br>
            <a:r>
              <a:rPr lang="en-US"/>
              <a:t>Construir o projeto duas vezes nao estava no plano. Foi consequencia de um problema pratico. Mas foi justamente isso que deixou visivel o custo de cada escolha, e por isso virou a parte mais interessante do trabalho.</a:t>
            </a:r>
            <a:br>
              <a:rPr lang="en-US"/>
            </a:br>
            <a:br>
              <a:rPr lang="en-US"/>
            </a:br>
            <a:r>
              <a:rPr lang="en-US"/>
              <a:t>DOIS APRENDIZADOS.</a:t>
            </a:r>
            <a:br>
              <a:rPr lang="en-US"/>
            </a:br>
            <a:br>
              <a:rPr lang="en-US"/>
            </a:br>
            <a:r>
              <a:rPr lang="en-US"/>
              <a:t>O PRIMEIRO e sobre tempo. Testar, errar e refazer levou mais tempo do que projetar. Eu tinha um cronograma que previa a construcao, mas nao previa a depuracao. E o primeiro problema real consumiu dias.</a:t>
            </a:r>
            <a:br>
              <a:rPr lang="en-US"/>
            </a:br>
            <a:br>
              <a:rPr lang="en-US"/>
            </a:br>
            <a:r>
              <a:rPr lang="en-US"/>
              <a:t>O SEGUNDO e sobre habilidade manual. Projetar e executar sao competencias diferentes. Eu conseguia entender o circuito, escolher os componentes e escrever o codigo, mas nao tinha o preparo manual para soldar. Reconhecer isso a tempo e pedir ajuda foi parte da solucao, nao uma falha.</a:t>
            </a:r>
            <a:br>
              <a:rPr lang="en-US"/>
            </a:br>
            <a:br>
              <a:rPr lang="en-US"/>
            </a:br>
            <a:r>
              <a:rPr lang="en-US"/>
              <a:t>Se perguntarem qual plataforma eu recomendaria: depende de quem vai montar. Se a pessoa solda, o ESP32-C3 e melhor, porque tem Python, USB-C e nao precisa de driver. Se nao solda, o Arduino Uno resolve, ao custo da linguagem e do conector antigo.</a:t>
            </a:r>
            <a:br>
              <a:rPr lang="en-US"/>
            </a:br>
            <a:br>
              <a:rPr lang="en-US"/>
            </a:br>
            <a:r>
              <a:rPr lang="en-US"/>
              <a:t>Se perguntarem o que ficou faltando: a lixeira precisa de tomada, nao tem watchdog, e nao percebe se a tampa bateu em alguma coisa. A massa da tampa ainda esta estimada, nao medida.</a:t>
            </a:r>
            <a:br>
              <a:rPr lang="en-US"/>
            </a:br>
            <a:br>
              <a:rPr lang="en-US"/>
            </a:br>
            <a:r>
              <a:rPr lang="en-US"/>
              <a:t>Obrigada. Posso responder perguntas.</a:t>
            </a:r>
            <a:endParaRPr/>
          </a:p>
        </p:txBody>
      </p:sp>
      <p:sp>
        <p:nvSpPr>
          <p:cNvPr id="230" name="Google Shape;2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F3F6F6"/>
          </a:solidFill>
          <a:ln cap="flat" cmpd="sng" w="12700">
            <a:solidFill>
              <a:srgbClr val="ED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pa_final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2088" y="548640"/>
            <a:ext cx="3703320" cy="57607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822960" y="1463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DISCIPLINA DE ROBÓTICA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1828800"/>
            <a:ext cx="5577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Lixeira automática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42900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FC0C3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AFC0C3"/>
                </a:solidFill>
              </a:rPr>
              <a:t>Um projeto de robótica feito com peças baratas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C3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AFC0C3"/>
              </a:solidFill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822960" y="4343400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3E52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22960" y="455371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929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9296"/>
                </a:solidFill>
                <a:latin typeface="Arial"/>
                <a:ea typeface="Arial"/>
                <a:cs typeface="Arial"/>
                <a:sym typeface="Arial"/>
              </a:rPr>
              <a:t>AUTORA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80974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Treicy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11880" y="455371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929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C9296"/>
                </a:solidFill>
              </a:rPr>
              <a:t>PLACAS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11880" y="480974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ESP32-C3 · Arduino Uno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8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758952" y="566928"/>
            <a:ext cx="9509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01 · DE ONDE VEIO O PROJETO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58952" y="804672"/>
            <a:ext cx="106710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2A2E"/>
                </a:solidFill>
                <a:latin typeface="Georgia"/>
                <a:ea typeface="Georgia"/>
                <a:cs typeface="Georgia"/>
                <a:sym typeface="Georgia"/>
              </a:rPr>
              <a:t>Pesquisa de campo: lixeira automática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758952" y="6272784"/>
            <a:ext cx="10671048" cy="0"/>
          </a:xfrm>
          <a:prstGeom prst="straightConnector1">
            <a:avLst/>
          </a:prstGeom>
          <a:noFill/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2"/>
          <p:cNvSpPr/>
          <p:nvPr/>
        </p:nvSpPr>
        <p:spPr>
          <a:xfrm>
            <a:off x="758952" y="6364224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Lixeira automática · Disciplina de Robótica ·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686800" y="63642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02 / 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58952" y="1572768"/>
            <a:ext cx="10671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Antes de projetar, fui observar </a:t>
            </a:r>
            <a:r>
              <a:rPr b="1" i="0" lang="en-US" sz="14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produtos de mercado já prontos</a:t>
            </a:r>
            <a:r>
              <a:rPr b="0" i="0" lang="en-US" sz="14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, funcionando. Ver em uso ensinou mais do que ler ficha técnica.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58952" y="2057400"/>
            <a:ext cx="3401568" cy="1572768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014984" y="2212848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B7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3E6B7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14984" y="26151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Funcionava com bateria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14984" y="2926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Sem fio nenhum aparente.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14984" y="331012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IDENTIFICADO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315968" y="2057400"/>
            <a:ext cx="3401568" cy="1572768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72000" y="2212848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B7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3E6B70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0" y="26151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Sensor na parte de cima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0" y="2926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Perto da abertura da tampa.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0" y="331012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IDENTIFICADO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872984" y="2057400"/>
            <a:ext cx="3401568" cy="1572768"/>
          </a:xfrm>
          <a:prstGeom prst="roundRect">
            <a:avLst>
              <a:gd fmla="val 3488" name="adj"/>
            </a:avLst>
          </a:prstGeom>
          <a:solidFill>
            <a:srgbClr val="FBEFE8"/>
          </a:solidFill>
          <a:ln cap="flat" cmpd="sng" w="1777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129016" y="2212848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25A28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129016" y="26151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Ficava aberta durante o uso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129016" y="2926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Só fechava quando eu saía.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129016" y="331012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REAPROVEITADO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58952" y="3913632"/>
            <a:ext cx="5175504" cy="201168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014984" y="4114800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B7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6B70"/>
                </a:solidFill>
                <a:latin typeface="Arial"/>
                <a:ea typeface="Arial"/>
                <a:cs typeface="Arial"/>
                <a:sym typeface="Arial"/>
              </a:rPr>
              <a:t>OS TRÊS SUBSISTEMAS DO PROJETO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14984" y="4443984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88136" y="4517136"/>
            <a:ext cx="164592" cy="164592"/>
          </a:xfrm>
          <a:prstGeom prst="ellipse">
            <a:avLst/>
          </a:prstGeom>
          <a:solidFill>
            <a:srgbClr val="EDF2F2"/>
          </a:solidFill>
          <a:ln cap="flat" cmpd="sng" w="1587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143000" y="4572000"/>
            <a:ext cx="54864" cy="54864"/>
          </a:xfrm>
          <a:prstGeom prst="ellipse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472184" y="44165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Percepção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472184" y="459028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O sensor mede a distância por ultrassom.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14984" y="4928616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1099109" y="5012741"/>
            <a:ext cx="50292" cy="50292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191463" y="5012741"/>
            <a:ext cx="50292" cy="50292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099109" y="5105095"/>
            <a:ext cx="50292" cy="50292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1191463" y="5105095"/>
            <a:ext cx="50292" cy="50292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1472184" y="490118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472184" y="50749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placa escolhe se abre, mantém ou fecha.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014984" y="5413248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097280" y="5552237"/>
            <a:ext cx="146304" cy="32918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153973" y="5495544"/>
            <a:ext cx="32918" cy="146304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1472184" y="5385816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472184" y="55595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O atuador levanta e abaixa a tampa.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254496" y="3913632"/>
            <a:ext cx="5175504" cy="2011680"/>
          </a:xfrm>
          <a:prstGeom prst="roundRect">
            <a:avLst>
              <a:gd fmla="val 2727" name="adj"/>
            </a:avLst>
          </a:prstGeom>
          <a:solidFill>
            <a:srgbClr val="FBEFE8"/>
          </a:solidFill>
          <a:ln cap="flat" cmpd="sng" w="1777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510528" y="4114800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O QUE TORNA O PROBLEMA INTERESSANTE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510528" y="4443984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tampa não só abre e fecha: </a:t>
            </a:r>
            <a:r>
              <a:rPr b="1" i="0" lang="en-US" sz="13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ela espera</a:t>
            </a:r>
            <a:r>
              <a:rPr b="0" i="0" lang="en-US" sz="13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. A pessoa precisa de tempo para concluir a ação, então a contagem começa </a:t>
            </a:r>
            <a:r>
              <a:rPr b="1" i="0" lang="en-US" sz="13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quando ela sai</a:t>
            </a:r>
            <a:r>
              <a:rPr b="0" i="0" lang="en-US" sz="13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, não quando a tampa abriu.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2"/>
          <p:cNvCxnSpPr/>
          <p:nvPr/>
        </p:nvCxnSpPr>
        <p:spPr>
          <a:xfrm>
            <a:off x="6510528" y="5358384"/>
            <a:ext cx="4663440" cy="0"/>
          </a:xfrm>
          <a:prstGeom prst="straightConnector1">
            <a:avLst/>
          </a:prstGeom>
          <a:noFill/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2"/>
          <p:cNvSpPr/>
          <p:nvPr/>
        </p:nvSpPr>
        <p:spPr>
          <a:xfrm>
            <a:off x="6510528" y="54864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É o </a:t>
            </a:r>
            <a:r>
              <a:rPr b="1" i="0" lang="en-US" sz="12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temporizador</a:t>
            </a:r>
            <a:r>
              <a:rPr b="0" i="0" lang="en-US" sz="12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 visto em aula, aplicado a uma interação real com uma pessoa.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8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758952" y="566928"/>
            <a:ext cx="9509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02 · PRIMEIRA VERSÃO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58952" y="804672"/>
            <a:ext cx="106710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2A2E"/>
                </a:solidFill>
                <a:latin typeface="Georgia"/>
                <a:ea typeface="Georgia"/>
                <a:cs typeface="Georgia"/>
                <a:sym typeface="Georgia"/>
              </a:rPr>
              <a:t>ESP32-C3: projeto rascunho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758952" y="6272784"/>
            <a:ext cx="10671048" cy="0"/>
          </a:xfrm>
          <a:prstGeom prst="straightConnector1">
            <a:avLst/>
          </a:prstGeom>
          <a:noFill/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3"/>
          <p:cNvSpPr/>
          <p:nvPr/>
        </p:nvSpPr>
        <p:spPr>
          <a:xfrm>
            <a:off x="758952" y="6364224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Lixeira automática · Disciplina de Robótica ·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686800" y="63642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03 / 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58952" y="162763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832104" y="1700784"/>
            <a:ext cx="164592" cy="164592"/>
          </a:xfrm>
          <a:prstGeom prst="ellipse">
            <a:avLst/>
          </a:prstGeom>
          <a:solidFill>
            <a:srgbClr val="EDF2F2"/>
          </a:solidFill>
          <a:ln cap="flat" cmpd="sng" w="1587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886968" y="1755648"/>
            <a:ext cx="54864" cy="54864"/>
          </a:xfrm>
          <a:prstGeom prst="ellipse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216152" y="1600200"/>
            <a:ext cx="2944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placa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216152" y="1773936"/>
            <a:ext cx="2944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ESP32-C3 SuperMini,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24 x 18 mm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315968" y="162763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FBEFE8"/>
          </a:solidFill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398264" y="1718158"/>
            <a:ext cx="146304" cy="20117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398264" y="1773022"/>
            <a:ext cx="146304" cy="20117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398264" y="1827886"/>
            <a:ext cx="146304" cy="20117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773168" y="1600200"/>
            <a:ext cx="2944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linguagem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773168" y="1773936"/>
            <a:ext cx="2944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MicroPython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 rodando na própria placa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872984" y="162763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957109" y="1711757"/>
            <a:ext cx="50292" cy="50292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049463" y="1711757"/>
            <a:ext cx="50292" cy="50292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957109" y="1804111"/>
            <a:ext cx="50292" cy="50292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8049463" y="1804111"/>
            <a:ext cx="50292" cy="50292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8330184" y="1600200"/>
            <a:ext cx="2944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O computador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330184" y="1773936"/>
            <a:ext cx="2944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MacBook, com entrada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USB-C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58952" y="2395728"/>
            <a:ext cx="5175600" cy="2834700"/>
          </a:xfrm>
          <a:prstGeom prst="roundRect">
            <a:avLst>
              <a:gd fmla="val 1935" name="adj"/>
            </a:avLst>
          </a:prstGeom>
          <a:solidFill>
            <a:srgbClr val="FBEFE8"/>
          </a:solidFill>
          <a:ln cap="flat" cmpd="sng" w="1777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1014984" y="2615184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O QUE PESOU A FAVOR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014984" y="2962656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FBEFE8"/>
          </a:solidFill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097280" y="3053182"/>
            <a:ext cx="146304" cy="20117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1097280" y="3108046"/>
            <a:ext cx="146304" cy="20117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1097280" y="3162910"/>
            <a:ext cx="146304" cy="20117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472184" y="293522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Python foi escolha consciente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472184" y="310896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Era requisito meu desde o início. Esta placa roda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Python de verdade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, sem depender de computador ligado.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014984" y="373075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FBEFE8"/>
          </a:solidFill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1088136" y="3803904"/>
            <a:ext cx="164700" cy="164700"/>
          </a:xfrm>
          <a:prstGeom prst="ellipse">
            <a:avLst/>
          </a:prstGeom>
          <a:solidFill>
            <a:srgbClr val="FBEFE8"/>
          </a:solidFill>
          <a:ln cap="flat" cmpd="sng" w="1587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1143000" y="3858768"/>
            <a:ext cx="54864" cy="54864"/>
          </a:xfrm>
          <a:prstGeom prst="ellipse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1472184" y="3703320"/>
            <a:ext cx="4206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USB-C direto na placa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472184" y="3877056"/>
            <a:ext cx="4206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O mesmo cabo do notebook.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 Sem adaptador e sem conversor.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014984" y="4498848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FBEFE8"/>
          </a:solidFill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1097280" y="4637837"/>
            <a:ext cx="146304" cy="32918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153973" y="4581144"/>
            <a:ext cx="32918" cy="146304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1472184" y="4471416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Reconhecida sem driver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472184" y="464515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O chip fala USB direto, então o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Mac aceitou de primeira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254496" y="2395728"/>
            <a:ext cx="5175504" cy="2834640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6510528" y="2615184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B7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6B70"/>
                </a:solidFill>
                <a:latin typeface="Arial"/>
                <a:ea typeface="Arial"/>
                <a:cs typeface="Arial"/>
                <a:sym typeface="Arial"/>
              </a:rPr>
              <a:t>O QUE COMPLICOU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510528" y="2962656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6588252" y="3049524"/>
            <a:ext cx="155448" cy="137160"/>
          </a:xfrm>
          <a:prstGeom prst="triangle">
            <a:avLst>
              <a:gd fmla="val 50000" name="adj"/>
            </a:avLst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967728" y="293522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Vinha sem os pinos soldados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967728" y="310896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placa e os pinos vêm separados.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Soldar era obrigatório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 para usá-la.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510528" y="373075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615684" y="3835908"/>
            <a:ext cx="100584" cy="100584"/>
          </a:xfrm>
          <a:prstGeom prst="ellipse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967728" y="3703320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solda não resistiu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967728" y="3877056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Os contatos foram soltando, e o circuito passou a funcionar de forma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intermitente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510528" y="4498848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592824" y="4631436"/>
            <a:ext cx="146304" cy="45720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967728" y="4471416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Etapa dependente de apoio externo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967728" y="4645152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montagem passou a depender de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serviço especializado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, e isso consumiu dias de cronograma.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58952" y="5413248"/>
            <a:ext cx="10671048" cy="658368"/>
          </a:xfrm>
          <a:prstGeom prst="roundRect">
            <a:avLst>
              <a:gd fmla="val 8333" name="adj"/>
            </a:avLst>
          </a:prstGeom>
          <a:solidFill>
            <a:srgbClr val="EDF2F2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1014984" y="5586984"/>
            <a:ext cx="10149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Chegou a funcionar:</a:t>
            </a:r>
            <a:r>
              <a:rPr b="0" i="0" lang="en-US" sz="13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 o MicroPython rodou, o LED da placa acendeu por comando e o sensor entregou distâncias corretas. Foi a solda que travou o projeto, não a plataforma.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/>
          <p:nvPr/>
        </p:nvSpPr>
        <p:spPr>
          <a:xfrm>
            <a:off x="758952" y="566928"/>
            <a:ext cx="9509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03 · EVIDÊNCIA DA PRIMEIRA VERSÃO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58952" y="804672"/>
            <a:ext cx="106710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2A2E"/>
                </a:solidFill>
                <a:latin typeface="Georgia"/>
                <a:ea typeface="Georgia"/>
                <a:cs typeface="Georgia"/>
                <a:sym typeface="Georgia"/>
              </a:rPr>
              <a:t>O rascunho chegou a funcionar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>
            <a:off x="758952" y="6272784"/>
            <a:ext cx="10671048" cy="0"/>
          </a:xfrm>
          <a:prstGeom prst="straightConnector1">
            <a:avLst/>
          </a:prstGeom>
          <a:noFill/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4"/>
          <p:cNvSpPr/>
          <p:nvPr/>
        </p:nvSpPr>
        <p:spPr>
          <a:xfrm>
            <a:off x="758952" y="6364224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Lixeira automática · Disciplina de Robótica ·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686800" y="63642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04 / 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58952" y="1572768"/>
            <a:ext cx="10671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Antes de a solda falhar, a plataforma foi validada de ponta a ponta: </a:t>
            </a:r>
            <a:r>
              <a:rPr b="1" i="0" lang="en-US" sz="14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placa reconhecida, código executando e sensor medindo distâncias corretas.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58952" y="2029968"/>
            <a:ext cx="5175504" cy="4041648"/>
          </a:xfrm>
          <a:prstGeom prst="roundRect">
            <a:avLst>
              <a:gd fmla="val 1357" name="adj"/>
            </a:avLst>
          </a:prstGeom>
          <a:solidFill>
            <a:srgbClr val="FFFFFF"/>
          </a:solidFill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1014984" y="2231136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B7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6B70"/>
                </a:solidFill>
                <a:latin typeface="Arial"/>
                <a:ea typeface="Arial"/>
                <a:cs typeface="Arial"/>
                <a:sym typeface="Arial"/>
              </a:rPr>
              <a:t>SAÍDA DO MONITOR, COM O SENSOR LIGADO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int_esp32.png"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984" y="2615184"/>
            <a:ext cx="4663440" cy="23500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/>
          <p:nvPr/>
        </p:nvSpPr>
        <p:spPr>
          <a:xfrm>
            <a:off x="1014984" y="5138928"/>
            <a:ext cx="4663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As distâncias mudam conforme a mão se aproxima. Os </a:t>
            </a:r>
            <a:r>
              <a:rPr b="1" i="0" lang="en-US" sz="12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0.0 cm</a:t>
            </a:r>
            <a:r>
              <a:rPr b="0" i="0" lang="en-US" sz="12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 são o valor espúrio que a mediana descarta.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4"/>
          <p:cNvCxnSpPr/>
          <p:nvPr/>
        </p:nvCxnSpPr>
        <p:spPr>
          <a:xfrm>
            <a:off x="1014984" y="5614416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4"/>
          <p:cNvSpPr/>
          <p:nvPr/>
        </p:nvSpPr>
        <p:spPr>
          <a:xfrm>
            <a:off x="1014984" y="572414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Conferido com régua: diferença </a:t>
            </a:r>
            <a:r>
              <a:rPr b="1" i="0" lang="en-US" sz="11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abaixo de 1 cm</a:t>
            </a:r>
            <a:r>
              <a:rPr b="0" i="0" lang="en-US" sz="11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254496" y="2029968"/>
            <a:ext cx="5175504" cy="4041648"/>
          </a:xfrm>
          <a:prstGeom prst="roundRect">
            <a:avLst>
              <a:gd fmla="val 1357" name="adj"/>
            </a:avLst>
          </a:prstGeom>
          <a:solidFill>
            <a:srgbClr val="FBEFE8"/>
          </a:solidFill>
          <a:ln cap="flat" cmpd="sng" w="1777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510528" y="2231136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O NÚCLEO DA LÓGICA, EM MICROPYTHON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510528" y="2523744"/>
            <a:ext cx="4663440" cy="2395728"/>
          </a:xfrm>
          <a:prstGeom prst="rect">
            <a:avLst/>
          </a:prstGeom>
          <a:solidFill>
            <a:srgbClr val="22303A"/>
          </a:solidFill>
          <a:ln cap="flat" cmpd="sng" w="12700">
            <a:solidFill>
              <a:srgbClr val="22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693408" y="2688336"/>
            <a:ext cx="43891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if presenca: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    ultima_presenca = ticks_ms()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aberta: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        abrir()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elif aberta: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    decorrido = ticks_diff(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        ticks_ms(), ultima_presenca)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    if decorrido &gt; ESPERA_MS: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C8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8E0F2"/>
                </a:solidFill>
                <a:latin typeface="Courier New"/>
                <a:ea typeface="Courier New"/>
                <a:cs typeface="Courier New"/>
                <a:sym typeface="Courier New"/>
              </a:rPr>
              <a:t>        fechar()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510528" y="5047488"/>
            <a:ext cx="4663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A contagem é renovada a cada presença</a:t>
            </a:r>
            <a:r>
              <a:rPr b="0" i="0" lang="en-US" sz="12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, então o intervalo nunca se completa enquanto houver alguém perto.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4"/>
          <p:cNvCxnSpPr/>
          <p:nvPr/>
        </p:nvCxnSpPr>
        <p:spPr>
          <a:xfrm>
            <a:off x="6510528" y="5614416"/>
            <a:ext cx="4663440" cy="0"/>
          </a:xfrm>
          <a:prstGeom prst="straightConnector1">
            <a:avLst/>
          </a:prstGeom>
          <a:noFill/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4"/>
          <p:cNvSpPr/>
          <p:nvPr/>
        </p:nvSpPr>
        <p:spPr>
          <a:xfrm>
            <a:off x="6510528" y="572414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Mesma lógica, transposta para </a:t>
            </a:r>
            <a:r>
              <a:rPr b="1" i="0" lang="en-US" sz="11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r>
              <a:rPr b="0" i="0" lang="en-US" sz="11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 na versão seguinte.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/>
          <p:nvPr/>
        </p:nvSpPr>
        <p:spPr>
          <a:xfrm>
            <a:off x="758952" y="566928"/>
            <a:ext cx="9509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04 · SEGUNDA VERSÃO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58952" y="804672"/>
            <a:ext cx="106710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2A2E"/>
                </a:solidFill>
                <a:latin typeface="Georgia"/>
                <a:ea typeface="Georgia"/>
                <a:cs typeface="Georgia"/>
                <a:sym typeface="Georgia"/>
              </a:rPr>
              <a:t>Arduino Uno: teste de circuito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758952" y="6272784"/>
            <a:ext cx="10671048" cy="0"/>
          </a:xfrm>
          <a:prstGeom prst="straightConnector1">
            <a:avLst/>
          </a:prstGeom>
          <a:noFill/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5"/>
          <p:cNvSpPr/>
          <p:nvPr/>
        </p:nvSpPr>
        <p:spPr>
          <a:xfrm>
            <a:off x="758952" y="6364224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Lixeira automática · Disciplina de Robótica ·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686800" y="63642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B80"/>
                </a:solidFill>
                <a:latin typeface="Arial"/>
                <a:ea typeface="Arial"/>
                <a:cs typeface="Arial"/>
                <a:sym typeface="Arial"/>
              </a:rPr>
              <a:t>05 / 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58952" y="162763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FBEFE8"/>
          </a:solidFill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843077" y="1711757"/>
            <a:ext cx="50292" cy="50292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935431" y="1711757"/>
            <a:ext cx="50292" cy="50292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43077" y="1804111"/>
            <a:ext cx="50292" cy="50292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935431" y="1804111"/>
            <a:ext cx="50292" cy="50292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216152" y="1600200"/>
            <a:ext cx="2944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placa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216152" y="1773936"/>
            <a:ext cx="2944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Arduino Uno,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pinos de fábrica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315968" y="162763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398264" y="1718158"/>
            <a:ext cx="146304" cy="20117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398264" y="1773022"/>
            <a:ext cx="146304" cy="20117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398264" y="1827886"/>
            <a:ext cx="146304" cy="20117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773168" y="1600200"/>
            <a:ext cx="2944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A linguagem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773168" y="1773936"/>
            <a:ext cx="2944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, reescrevi o código inteiro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872984" y="162763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946136" y="1700784"/>
            <a:ext cx="164592" cy="164592"/>
          </a:xfrm>
          <a:prstGeom prst="ellipse">
            <a:avLst/>
          </a:prstGeom>
          <a:solidFill>
            <a:srgbClr val="EDF2F2"/>
          </a:solidFill>
          <a:ln cap="flat" cmpd="sng" w="1587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8001000" y="1755648"/>
            <a:ext cx="54864" cy="54864"/>
          </a:xfrm>
          <a:prstGeom prst="ellipse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8330184" y="1600200"/>
            <a:ext cx="2944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O computador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330184" y="1773936"/>
            <a:ext cx="2944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Windows, com entrada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USB-A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58952" y="2395728"/>
            <a:ext cx="5175504" cy="2834640"/>
          </a:xfrm>
          <a:prstGeom prst="roundRect">
            <a:avLst>
              <a:gd fmla="val 1935" name="adj"/>
            </a:avLst>
          </a:prstGeom>
          <a:solidFill>
            <a:srgbClr val="FBEFE8"/>
          </a:solidFill>
          <a:ln cap="flat" cmpd="sng" w="1777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1014984" y="2615184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O QUE PESOU A FAVOR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014984" y="2962656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FBEFE8"/>
          </a:solidFill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1097280" y="3101645"/>
            <a:ext cx="146304" cy="32918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1153973" y="3044952"/>
            <a:ext cx="32918" cy="146304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1472184" y="293522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Placa já soldada de fábrica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472184" y="310896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Barras de conectores prontas.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Nenhuma solda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, nenhum intermediário.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014984" y="373075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FBEFE8"/>
          </a:solidFill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1099109" y="3814877"/>
            <a:ext cx="50292" cy="50292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1191463" y="3814877"/>
            <a:ext cx="50292" cy="50292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1099109" y="3907231"/>
            <a:ext cx="50292" cy="50292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1191463" y="3907231"/>
            <a:ext cx="50292" cy="50292"/>
          </a:xfrm>
          <a:prstGeom prst="rect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1472184" y="3703320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O fio espeta direto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472184" y="3877056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Sem protoboard no caminho, o que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reduziu os pontos de falha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014984" y="4498848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FBEFE8"/>
          </a:solidFill>
          <a:ln cap="flat" cmpd="sng" w="952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1088136" y="4572000"/>
            <a:ext cx="164592" cy="164592"/>
          </a:xfrm>
          <a:prstGeom prst="ellipse">
            <a:avLst/>
          </a:prstGeom>
          <a:solidFill>
            <a:srgbClr val="FBEFE8"/>
          </a:solidFill>
          <a:ln cap="flat" cmpd="sng" w="15875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1143000" y="4626864"/>
            <a:ext cx="54864" cy="54864"/>
          </a:xfrm>
          <a:prstGeom prst="ellipse">
            <a:avLst/>
          </a:prstGeom>
          <a:solidFill>
            <a:srgbClr val="C25A28"/>
          </a:solidFill>
          <a:ln cap="flat" cmpd="sng" w="12700">
            <a:solidFill>
              <a:srgbClr val="C25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1472184" y="4471416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Funcionou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472184" y="464515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Circuito montado e testado: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sensor lendo e tampa abrindo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254496" y="2395728"/>
            <a:ext cx="5175504" cy="2834640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2700">
            <a:solidFill>
              <a:srgbClr val="DCE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6510528" y="2615184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6B7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6B70"/>
                </a:solidFill>
                <a:latin typeface="Arial"/>
                <a:ea typeface="Arial"/>
                <a:cs typeface="Arial"/>
                <a:sym typeface="Arial"/>
              </a:rPr>
              <a:t>AS DIFERENÇAS QUE ISSO TROUXE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0528" y="2962656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592824" y="3053182"/>
            <a:ext cx="146304" cy="20117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6592824" y="3108046"/>
            <a:ext cx="146304" cy="20117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6592824" y="3162910"/>
            <a:ext cx="146304" cy="20117"/>
          </a:xfrm>
          <a:prstGeom prst="rect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6967728" y="293522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Não roda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6967728" y="3108960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Reescrevi o programa em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. Mesma lógica, outra linguagem.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510528" y="3730752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6588252" y="3817620"/>
            <a:ext cx="155448" cy="137160"/>
          </a:xfrm>
          <a:prstGeom prst="triangle">
            <a:avLst>
              <a:gd fmla="val 50000" name="adj"/>
            </a:avLst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6967728" y="3703320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Cabo USB-B, porta USB-A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967728" y="3877056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Não encaixam no meu notebook, que só tem USB-C.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510528" y="4498848"/>
            <a:ext cx="310896" cy="310896"/>
          </a:xfrm>
          <a:prstGeom prst="roundRect">
            <a:avLst>
              <a:gd fmla="val 82353" name="adj"/>
            </a:avLst>
          </a:prstGeom>
          <a:solidFill>
            <a:srgbClr val="EDF2F2"/>
          </a:solidFill>
          <a:ln cap="flat" cmpd="sng" w="9525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6615684" y="4604004"/>
            <a:ext cx="100584" cy="100584"/>
          </a:xfrm>
          <a:prstGeom prst="ellipse">
            <a:avLst/>
          </a:prstGeom>
          <a:solidFill>
            <a:srgbClr val="3E6B70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6967728" y="4471416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Precisei de outro computador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967728" y="4645152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2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Sem adaptador em mãos, montei tudo </a:t>
            </a:r>
            <a:r>
              <a:rPr b="1" i="0" lang="en-US" sz="95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num Windows emprestado</a:t>
            </a:r>
            <a:r>
              <a:rPr b="0" i="0" lang="en-US" sz="95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758952" y="5413248"/>
            <a:ext cx="10671048" cy="658368"/>
          </a:xfrm>
          <a:prstGeom prst="roundRect">
            <a:avLst>
              <a:gd fmla="val 8333" name="adj"/>
            </a:avLst>
          </a:prstGeom>
          <a:solidFill>
            <a:srgbClr val="EDF2F2"/>
          </a:solidFill>
          <a:ln cap="flat" cmpd="sng" w="12700">
            <a:solidFill>
              <a:srgbClr val="3E6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1014984" y="5586984"/>
            <a:ext cx="10149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A troca foi a decisão adequada ao tempo disponível:</a:t>
            </a:r>
            <a:r>
              <a:rPr b="0" i="0" lang="en-US" sz="1300" u="none" cap="none" strike="noStrike">
                <a:solidFill>
                  <a:srgbClr val="1F2A2E"/>
                </a:solidFill>
                <a:latin typeface="Arial"/>
                <a:ea typeface="Arial"/>
                <a:cs typeface="Arial"/>
                <a:sym typeface="Arial"/>
              </a:rPr>
              <a:t> ganhei praticidade e destravei o projeto. O custo não foi a linguagem, e sim as dificuldades técnicas ligadas ao meu equipamento principal.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2E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/>
          <p:nvPr/>
        </p:nvSpPr>
        <p:spPr>
          <a:xfrm>
            <a:off x="914400" y="96012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25A28"/>
                </a:solidFill>
                <a:latin typeface="Arial"/>
                <a:ea typeface="Arial"/>
                <a:cs typeface="Arial"/>
                <a:sym typeface="Arial"/>
              </a:rPr>
              <a:t>PRA FECHAR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914400" y="132588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 projeto ensinou mais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nas duas tentativas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914400" y="3035808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0C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C0C3"/>
                </a:solidFill>
                <a:latin typeface="Arial"/>
                <a:ea typeface="Arial"/>
                <a:cs typeface="Arial"/>
                <a:sym typeface="Arial"/>
              </a:rPr>
              <a:t>Construir duas vezes não estava previsto, mas foi o que deixou os custos de cada escolha visíveis. Cada plataforma cobrou uma coisa diferente, e nenhuma delas aparece na ficha técnica.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6"/>
          <p:cNvCxnSpPr/>
          <p:nvPr/>
        </p:nvCxnSpPr>
        <p:spPr>
          <a:xfrm>
            <a:off x="914400" y="4041648"/>
            <a:ext cx="10332720" cy="0"/>
          </a:xfrm>
          <a:prstGeom prst="straightConnector1">
            <a:avLst/>
          </a:prstGeom>
          <a:noFill/>
          <a:ln cap="flat" cmpd="sng" w="12700">
            <a:solidFill>
              <a:srgbClr val="3E52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6"/>
          <p:cNvSpPr/>
          <p:nvPr/>
        </p:nvSpPr>
        <p:spPr>
          <a:xfrm>
            <a:off x="914400" y="422452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929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9296"/>
                </a:solidFill>
                <a:latin typeface="Arial"/>
                <a:ea typeface="Arial"/>
                <a:cs typeface="Arial"/>
                <a:sym typeface="Arial"/>
              </a:rPr>
              <a:t>OS DOIS APRENDIZADOS QUE EU LEVO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914400" y="457200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Tempo de bancada não é opcional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914400" y="49377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FC0C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FC0C3"/>
                </a:solidFill>
                <a:latin typeface="Arial"/>
                <a:ea typeface="Arial"/>
                <a:cs typeface="Arial"/>
                <a:sym typeface="Arial"/>
              </a:rPr>
              <a:t>Testar, errar e refazer levou mais tempo do que projetar. Um cronograma que só prevê a construção não sobrevive ao primeiro problema real.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400800" y="457200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Habilidade manual é competência à parte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400800" y="49377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FC0C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FC0C3"/>
                </a:solidFill>
                <a:latin typeface="Arial"/>
                <a:ea typeface="Arial"/>
                <a:cs typeface="Arial"/>
                <a:sym typeface="Arial"/>
              </a:rPr>
              <a:t>Projetar e executar são coisas diferentes. Eu não tinha o preparo manual para soldar, e reconhecer isso a tempo de pedir ajuda foi parte da solução.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A2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25A28"/>
                </a:solidFill>
                <a:latin typeface="Georgia"/>
                <a:ea typeface="Georgia"/>
                <a:cs typeface="Georgia"/>
                <a:sym typeface="Georgia"/>
              </a:rPr>
              <a:t>Obrigada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2026-09-04T20:35:47Z</dcterms:created>
  <dc:creator>Treicy</dc:creator>
</cp:coreProperties>
</file>